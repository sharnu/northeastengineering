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DDD7C8"/>
                </a:solidFill>
                <a:latin typeface="Menlo"/>
              </a:rPr>
              <a:t>NEE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0" b="0">
                <a:solidFill>
                  <a:srgbClr val="F5F2EA"/>
                </a:solidFill>
                <a:latin typeface="Georgia"/>
              </a:rPr>
              <a:t>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EBE7DC"/>
                </a:solidFill>
                <a:latin typeface="Helvetica Neue"/>
              </a:rPr>
              <a:t>Production Software for the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94960"/>
            <a:ext cx="54864" cy="4572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440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EBE7DC"/>
                </a:solidFill>
                <a:latin typeface="Georgia"/>
              </a:rPr>
              <a:t>Where shop-floor work gets shaped.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Menlo"/>
              </a:rPr>
              <a:t>THE PAIN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0A0E0F"/>
                </a:solidFill>
                <a:latin typeface="Georgia"/>
              </a:rPr>
              <a:t>The Monday-morning printout is stale by 11 a.m.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700">
                <a:solidFill>
                  <a:srgbClr val="0A0E0F"/>
                </a:solidFill>
                <a:latin typeface="Helvetica Neue"/>
              </a:rPr>
              <a:t>•   "Where's the chassis for Job Card 0007?" → 3 phone calls + a walk to the floor.</a:t>
            </a:r>
          </a:p>
          <a:p>
            <a:pPr>
              <a:lnSpc>
                <a:spcPct val="150000"/>
              </a:lnSpc>
            </a:pPr>
            <a:r>
              <a:rPr sz="1700">
                <a:solidFill>
                  <a:srgbClr val="0A0E0F"/>
                </a:solidFill>
                <a:latin typeface="Helvetica Neue"/>
              </a:rPr>
              <a:t>•   Variance is reconciled in arrears. The supervisor learns next Friday why something ran late, not in time to act.</a:t>
            </a:r>
          </a:p>
          <a:p>
            <a:pPr>
              <a:lnSpc>
                <a:spcPct val="150000"/>
              </a:lnSpc>
            </a:pPr>
            <a:r>
              <a:rPr sz="1700">
                <a:solidFill>
                  <a:srgbClr val="0A0E0F"/>
                </a:solidFill>
                <a:latin typeface="Helvetica Neue"/>
              </a:rPr>
              <a:t>•   Three or more versions of "the master sheet" sit in different inboxes. None is current.</a:t>
            </a:r>
          </a:p>
          <a:p>
            <a:pPr>
              <a:lnSpc>
                <a:spcPct val="150000"/>
              </a:lnSpc>
            </a:pPr>
            <a:r>
              <a:rPr sz="1700">
                <a:solidFill>
                  <a:srgbClr val="0A0E0F"/>
                </a:solidFill>
                <a:latin typeface="Helvetica Neue"/>
              </a:rPr>
              <a:t>•   When a tech reports a blocker, it lives in his head until end of day. Sometimes longer.</a:t>
            </a:r>
          </a:p>
          <a:p>
            <a:pPr>
              <a:lnSpc>
                <a:spcPct val="150000"/>
              </a:lnSpc>
            </a:pPr>
            <a:r>
              <a:rPr sz="1700">
                <a:solidFill>
                  <a:srgbClr val="0A0E0F"/>
                </a:solidFill>
                <a:latin typeface="Helvetica Neue"/>
              </a:rPr>
              <a:t>•   Every printout is a snapshot of a moment that has already passed.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88A4"/>
                </a:solidFill>
                <a:latin typeface="Helvetica Neue"/>
              </a:rPr>
              <a:t>Show of hands — who has been on a phone call this week to find out where a job is?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NEE FORGE  ·  Production Software for the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Menlo"/>
              </a:rPr>
              <a:t>NEE 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0A0E0F"/>
                </a:solidFill>
                <a:latin typeface="Georgia"/>
              </a:rPr>
              <a:t>One system. Five personas. One source of truth.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1816547" cy="2011680"/>
          </a:xfrm>
          <a:prstGeom prst="rect">
            <a:avLst/>
          </a:prstGeom>
          <a:solidFill>
            <a:srgbClr val="E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816547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15422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Menlo"/>
              </a:rPr>
              <a:t>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15422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A0E0F"/>
                </a:solidFill>
                <a:latin typeface="Georgia"/>
              </a:rPr>
              <a:t>PDF intake auto-builds Job Card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19467" y="3063240"/>
            <a:ext cx="320040" cy="457200"/>
          </a:xfrm>
          <a:prstGeom prst="rightArrow">
            <a:avLst/>
          </a:prstGeom>
          <a:solidFill>
            <a:srgbClr val="6B8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76667" y="2286000"/>
            <a:ext cx="1816547" cy="2011680"/>
          </a:xfrm>
          <a:prstGeom prst="rect">
            <a:avLst/>
          </a:prstGeom>
          <a:solidFill>
            <a:srgbClr val="E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76667" y="2286000"/>
            <a:ext cx="1816547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3827" y="2514600"/>
            <a:ext cx="15422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Menlo"/>
              </a:rPr>
              <a:t>DRAFTER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3827" y="3063240"/>
            <a:ext cx="15422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A0E0F"/>
                </a:solidFill>
                <a:latin typeface="Georgia"/>
              </a:rPr>
              <a:t>Drawings · BOM · Layout upload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30374" y="3063240"/>
            <a:ext cx="320040" cy="457200"/>
          </a:xfrm>
          <a:prstGeom prst="rightArrow">
            <a:avLst/>
          </a:prstGeom>
          <a:solidFill>
            <a:srgbClr val="6B8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87574" y="2286000"/>
            <a:ext cx="1816547" cy="2011680"/>
          </a:xfrm>
          <a:prstGeom prst="rect">
            <a:avLst/>
          </a:prstGeom>
          <a:solidFill>
            <a:srgbClr val="E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87574" y="2286000"/>
            <a:ext cx="1816547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4734" y="2514600"/>
            <a:ext cx="15422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Menlo"/>
              </a:rPr>
              <a:t>SUPERVISOR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4734" y="3063240"/>
            <a:ext cx="15422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A0E0F"/>
                </a:solidFill>
                <a:latin typeface="Georgia"/>
              </a:rPr>
              <a:t>Schedule + 4-week capacity heatmap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41281" y="3063240"/>
            <a:ext cx="320040" cy="457200"/>
          </a:xfrm>
          <a:prstGeom prst="rightArrow">
            <a:avLst/>
          </a:prstGeom>
          <a:solidFill>
            <a:srgbClr val="6B8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98481" y="2286000"/>
            <a:ext cx="1816547" cy="2011680"/>
          </a:xfrm>
          <a:prstGeom prst="rect">
            <a:avLst/>
          </a:prstGeom>
          <a:solidFill>
            <a:srgbClr val="E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98481" y="2286000"/>
            <a:ext cx="1816547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35641" y="2514600"/>
            <a:ext cx="15422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Menlo"/>
              </a:rPr>
              <a:t>TECH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641" y="3063240"/>
            <a:ext cx="15422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A0E0F"/>
                </a:solidFill>
                <a:latin typeface="Georgia"/>
              </a:rPr>
              <a:t>Clock in / out from a phone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52188" y="3063240"/>
            <a:ext cx="320040" cy="457200"/>
          </a:xfrm>
          <a:prstGeom prst="rightArrow">
            <a:avLst/>
          </a:prstGeom>
          <a:solidFill>
            <a:srgbClr val="6B8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09388" y="2286000"/>
            <a:ext cx="1816547" cy="2011680"/>
          </a:xfrm>
          <a:prstGeom prst="rect">
            <a:avLst/>
          </a:prstGeom>
          <a:solidFill>
            <a:srgbClr val="E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09388" y="2286000"/>
            <a:ext cx="1816547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6548" y="2514600"/>
            <a:ext cx="15422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Menlo"/>
              </a:rPr>
              <a:t>QC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6548" y="3063240"/>
            <a:ext cx="15422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A0E0F"/>
                </a:solidFill>
                <a:latin typeface="Georgia"/>
              </a:rPr>
              <a:t>6-item checklist + customer email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88A4"/>
                </a:solidFill>
                <a:latin typeface="Helvetica Neue"/>
              </a:rPr>
              <a:t>From PDF intake to customer email — the same system the whole way through.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NEE FORGE  ·  Production Software for the Workshop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Menlo"/>
              </a:rPr>
              <a:t>LIVE PRODUCTION FLOOR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0A0E0F"/>
                </a:solidFill>
                <a:latin typeface="Georgia"/>
              </a:rPr>
              <a:t>First question of the day, answered without a phone call.</a:t>
            </a:r>
          </a:p>
        </p:txBody>
      </p:sp>
      <p:pic>
        <p:nvPicPr>
          <p:cNvPr id="6" name="Picture 5" descr="02-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0A0E0F"/>
                </a:solidFill>
                <a:latin typeface="Helvetica Neue"/>
              </a:rPr>
              <a:t>•   Hospital lane — every blocked Job Card surfaces here, regardless of week.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0A0E0F"/>
                </a:solidFill>
                <a:latin typeface="Helvetica Neue"/>
              </a:rPr>
              <a:t>•   Week badges (W19 / W20) — Job Cards carrying over from earlier weeks are obvious.</a:t>
            </a: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0A0E0F"/>
                </a:solidFill>
                <a:latin typeface="Helvetica Neue"/>
              </a:rPr>
              <a:t>•   Force-advance — supervisor moves a Job Card past a sticking station in 2 clicks.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NEE FORGE  ·  Production Software for the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Menlo"/>
              </a:rPr>
              <a:t>MOBILE TECH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0A0E0F"/>
                </a:solidFill>
                <a:latin typeface="Georgia"/>
              </a:rPr>
              <a:t>If a tech needs more than two taps, they won't use it.</a:t>
            </a:r>
          </a:p>
        </p:txBody>
      </p:sp>
      <p:pic>
        <p:nvPicPr>
          <p:cNvPr id="6" name="Picture 5" descr="06-tech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2416825" cy="4114800"/>
          </a:xfrm>
          <a:prstGeom prst="rect">
            <a:avLst/>
          </a:prstGeom>
        </p:spPr>
      </p:pic>
      <p:pic>
        <p:nvPicPr>
          <p:cNvPr id="7" name="Picture 6" descr="07-tech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828800"/>
            <a:ext cx="2416825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19202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0A0E0F"/>
                </a:solidFill>
                <a:latin typeface="Georgia"/>
              </a:rPr>
              <a:t>One tap to clock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6060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0A0E0F"/>
                </a:solidFill>
                <a:latin typeface="Georgia"/>
              </a:rPr>
              <a:t>Zero PCs on the floor.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520440"/>
            <a:ext cx="47548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A0E0F"/>
                </a:solidFill>
                <a:latin typeface="Helvetica Neue"/>
              </a:rPr>
              <a:t>•   Median touchpoint: under 30 seconds per task event.</a:t>
            </a:r>
          </a:p>
          <a:p>
            <a:pPr>
              <a:lnSpc>
                <a:spcPct val="150000"/>
              </a:lnSpc>
            </a:pPr>
            <a:r>
              <a:rPr sz="1400">
                <a:solidFill>
                  <a:srgbClr val="0A0E0F"/>
                </a:solidFill>
                <a:latin typeface="Helvetica Neue"/>
              </a:rPr>
              <a:t>•   Blocked Job Cards remain visible — read-only — so the tech sees the queue clearing.</a:t>
            </a:r>
          </a:p>
          <a:p>
            <a:pPr>
              <a:lnSpc>
                <a:spcPct val="150000"/>
              </a:lnSpc>
            </a:pPr>
            <a:r>
              <a:rPr sz="1400">
                <a:solidFill>
                  <a:srgbClr val="0A0E0F"/>
                </a:solidFill>
                <a:latin typeface="Helvetica Neue"/>
              </a:rPr>
              <a:t>•   No shared logins. No end-of-day data entry.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NEE FORGE  ·  Production Software for the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Menlo"/>
              </a:rPr>
              <a:t>INSIGHTS WITHOUT A BI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0A0E0F"/>
                </a:solidFill>
                <a:latin typeface="Georgia"/>
              </a:rPr>
              <a:t>The reports the supervisor would have asked for in three months — already there on day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657600" cy="429768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5960"/>
            <a:ext cx="3383280" cy="535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9377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A0E0F"/>
                </a:solidFill>
                <a:latin typeface="Georgia"/>
              </a:rPr>
              <a:t>Variance Root 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88A4"/>
                </a:solidFill>
                <a:latin typeface="Helvetica Neue"/>
              </a:rPr>
              <a:t>Drilling jig broken accounts for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88A4"/>
                </a:solidFill>
                <a:latin typeface="Helvetica Neue"/>
              </a:rPr>
              <a:t>38h of overrun this quarter.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88A4"/>
                </a:solidFill>
                <a:latin typeface="Helvetica Neue"/>
              </a:rPr>
              <a:t>Shown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657600" cy="429768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-concen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965960"/>
            <a:ext cx="3383280" cy="4889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49377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A0E0F"/>
                </a:solidFill>
                <a:latin typeface="Georgia"/>
              </a:rPr>
              <a:t>Customer Concentration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4924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88A4"/>
                </a:solidFill>
                <a:latin typeface="Helvetica Neue"/>
              </a:rPr>
              <a:t>Top 3 customers = 67% of hours.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88A4"/>
                </a:solidFill>
                <a:latin typeface="Helvetica Neue"/>
              </a:rPr>
              <a:t>DFE alone = 42%.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88A4"/>
                </a:solidFill>
                <a:latin typeface="Helvetica Neue"/>
              </a:rPr>
              <a:t>Pareto and 8-quarter trend.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828800"/>
            <a:ext cx="3657600" cy="429768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5-forec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965960"/>
            <a:ext cx="3383280" cy="3935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03920" y="49377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A0E0F"/>
                </a:solidFill>
                <a:latin typeface="Georgia"/>
              </a:rPr>
              <a:t>Strategic 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34924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88A4"/>
                </a:solidFill>
                <a:latin typeface="Helvetica Neue"/>
              </a:rPr>
              <a:t>Job Card 0007 = HIGH risk.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88A4"/>
                </a:solidFill>
                <a:latin typeface="Helvetica Neue"/>
              </a:rPr>
              <a:t>Paint overcommitted W21.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88A4"/>
                </a:solidFill>
                <a:latin typeface="Helvetica Neue"/>
              </a:rPr>
              <a:t>18% avg overrun on TP42N.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NEE FORGE  ·  Production Software for the Workshop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Menlo"/>
              </a:rPr>
              <a:t>EXCEL vs NEE 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0A0E0F"/>
                </a:solidFill>
                <a:latin typeface="Georgia"/>
              </a:rPr>
              <a:t>Excel is free until you count the reconciliation hours.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F2EA"/>
                          </a:solidFill>
                          <a:latin typeface="Helvetica Neue"/>
                        </a:rPr>
                        <a:t>WORKSHOP SCENARIO</a:t>
                      </a:r>
                    </a:p>
                  </a:txBody>
                  <a:tcPr>
                    <a:solidFill>
                      <a:srgbClr val="0A0E0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F2EA"/>
                          </a:solidFill>
                          <a:latin typeface="Helvetica Neue"/>
                        </a:rPr>
                        <a:t>EXCEL TODAY</a:t>
                      </a:r>
                    </a:p>
                  </a:txBody>
                  <a:tcPr>
                    <a:solidFill>
                      <a:srgbClr val="0A0E0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F2EA"/>
                          </a:solidFill>
                          <a:latin typeface="Helvetica Neue"/>
                        </a:rPr>
                        <a:t>NEE FORGE</a:t>
                      </a:r>
                    </a:p>
                  </a:txBody>
                  <a:tcPr>
                    <a:solidFill>
                      <a:srgbClr val="0A0E0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"Where's Job Card 0007 right now?"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5 phone calls + walk to floor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2-second search; current station + assigned tech visible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"How many hours of overrun on TP42N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last quarter?"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Pivot table + manual reconciliation,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~30 min — if the data is even there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One click on the Variance Root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Cause report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"Who clocked in on Job 0042 last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Tuesday?"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Not tracked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Time entries audit log per task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"How many Job Cards from DFE last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quarter? Year-on-year?"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Master sheet running total — if anyone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remembered to update it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Customer Concentration tab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with 8-quarter trend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"Tech reports drilling jig broken at 14:30"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End-of-day note in WhatsApp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Real-time blocker on the kanban;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1A1F21"/>
                          </a:solidFill>
                          <a:latin typeface="Helvetica Neue"/>
                        </a:rPr>
                        <a:t>supervisor unblocks with notes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NEE FORGE  ·  Production Software for the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Menlo"/>
              </a:rPr>
              <a:t>EPICOR KINETIC vs NEE 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0A0E0F"/>
                </a:solidFill>
                <a:latin typeface="Georgia"/>
              </a:rPr>
              <a:t>Kinetic is a kit. NEE Forge is the finished cabinet.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8308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5F2EA"/>
                          </a:solidFill>
                          <a:latin typeface="Helvetica Neue"/>
                        </a:rPr>
                        <a:t>CAPABILITY</a:t>
                      </a:r>
                    </a:p>
                  </a:txBody>
                  <a:tcPr>
                    <a:solidFill>
                      <a:srgbClr val="0A0E0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5F2EA"/>
                          </a:solidFill>
                          <a:latin typeface="Helvetica Neue"/>
                        </a:rPr>
                        <a:t>EPICOR KINETIC</a:t>
                      </a:r>
                    </a:p>
                  </a:txBody>
                  <a:tcPr>
                    <a:solidFill>
                      <a:srgbClr val="0A0E0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5F2EA"/>
                          </a:solidFill>
                          <a:latin typeface="Helvetica Neue"/>
                        </a:rPr>
                        <a:t>NEE FORGE</a:t>
                      </a:r>
                    </a:p>
                  </a:txBody>
                  <a:tcPr>
                    <a:solidFill>
                      <a:srgbClr val="0A0E0F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Kanban board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Generic ERP kanban — stations and lanes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configured by external implementer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Body-type tracks (BODY · CHASSIS · SUBFRAME)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and Hospital lane built in. No config.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Tech clock-in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Full MES — multi-shift, indirect labour,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badge readers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One tap on a phone. No badge reader,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no shift configuration.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Variance tracking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Cost-variance categories with multi-level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approval workflow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13 reason codes attached at task complete.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Root-cause aggregate same day.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QC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Multi-step inspection plans + sample sizes,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NCR workflow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6-item checklist that triggers a customer-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facing email automatically.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Drafter handoff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Engineering Change Order subsystem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(custom configuration)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Dedicated drafter persona — Layout / BOM /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Drawing pack uploads.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Implementation effort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6 – 18 months. Off-shore implementation.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Days. Shipped as a finished product.</a:t>
                      </a:r>
                    </a:p>
                  </a:txBody>
                  <a:tcPr>
                    <a:solidFill>
                      <a:srgbClr val="EBE7DC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Modules you'll never use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Multi-site · Multi-currency · MRP · EDI · HR ·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Payroll · Field Service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None — system is exactly the size</a:t>
                      </a:r>
                    </a:p>
                    <a:p>
                      <a:pPr algn="l"/>
                      <a:r>
                        <a:rPr sz="1000">
                          <a:solidFill>
                            <a:srgbClr val="1A1F21"/>
                          </a:solidFill>
                          <a:latin typeface="Helvetica Neue"/>
                        </a:rPr>
                        <a:t>of the problem.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179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88A4"/>
                </a:solidFill>
                <a:latin typeface="Helvetica Neue"/>
              </a:rPr>
              <a:t>Both systems can do most things. Only one is built for this workshop.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NEE FORGE  ·  Production Software for the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Menlo"/>
              </a:rPr>
              <a:t>IMPLEMENTATION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0A0E0F"/>
                </a:solidFill>
                <a:latin typeface="Georgia"/>
              </a:rPr>
              <a:t>Three options. Three timelines. Same calendar.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74519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2194560"/>
            <a:ext cx="9144" cy="137160"/>
          </a:xfrm>
          <a:prstGeom prst="rect">
            <a:avLst/>
          </a:prstGeom>
          <a:solidFill>
            <a:srgbClr val="6B8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874519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M3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194560"/>
            <a:ext cx="9144" cy="137160"/>
          </a:xfrm>
          <a:prstGeom prst="rect">
            <a:avLst/>
          </a:prstGeom>
          <a:solidFill>
            <a:srgbClr val="6B8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874519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M6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2194560"/>
            <a:ext cx="9144" cy="137160"/>
          </a:xfrm>
          <a:prstGeom prst="rect">
            <a:avLst/>
          </a:prstGeom>
          <a:solidFill>
            <a:srgbClr val="6B8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M9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194560"/>
            <a:ext cx="9144" cy="137160"/>
          </a:xfrm>
          <a:prstGeom prst="rect">
            <a:avLst/>
          </a:prstGeom>
          <a:solidFill>
            <a:srgbClr val="6B8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874519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M12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194560"/>
            <a:ext cx="9144" cy="137160"/>
          </a:xfrm>
          <a:prstGeom prst="rect">
            <a:avLst/>
          </a:prstGeom>
          <a:solidFill>
            <a:srgbClr val="6B8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874519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M15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2194560"/>
            <a:ext cx="9144" cy="137160"/>
          </a:xfrm>
          <a:prstGeom prst="rect">
            <a:avLst/>
          </a:prstGeom>
          <a:solidFill>
            <a:srgbClr val="6B8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1874519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M18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0" y="2194560"/>
            <a:ext cx="9144" cy="137160"/>
          </a:xfrm>
          <a:prstGeom prst="rect">
            <a:avLst/>
          </a:prstGeom>
          <a:solidFill>
            <a:srgbClr val="6B8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3317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A0E0F"/>
                </a:solidFill>
                <a:latin typeface="Georgia"/>
              </a:rPr>
              <a:t>Excel today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2578608"/>
            <a:ext cx="9509760" cy="36576"/>
          </a:xfrm>
          <a:prstGeom prst="rect">
            <a:avLst/>
          </a:prstGeom>
          <a:solidFill>
            <a:srgbClr val="DD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0" y="2377440"/>
            <a:ext cx="9509760" cy="548640"/>
          </a:xfrm>
          <a:prstGeom prst="rect">
            <a:avLst/>
          </a:prstGeom>
          <a:solidFill>
            <a:srgbClr val="6B8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75720" y="24231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F21"/>
                </a:solidFill>
                <a:latin typeface="Helvetica Neue"/>
              </a:rPr>
              <a:t>Indefinite ongoing reconciliation cost.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1546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A0E0F"/>
                </a:solidFill>
                <a:latin typeface="Georgia"/>
              </a:rPr>
              <a:t>Epicor Kinetic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401568"/>
            <a:ext cx="9509760" cy="36576"/>
          </a:xfrm>
          <a:prstGeom prst="rect">
            <a:avLst/>
          </a:prstGeom>
          <a:solidFill>
            <a:srgbClr val="DD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0" y="3200400"/>
            <a:ext cx="9509760" cy="5486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75720" y="32461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F21"/>
                </a:solidFill>
                <a:latin typeface="Helvetica Neue"/>
              </a:rPr>
              <a:t>Industry-standard implementation timeline.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9776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A0E0F"/>
                </a:solidFill>
                <a:latin typeface="Georgia"/>
              </a:rPr>
              <a:t>NEE Forge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4224528"/>
            <a:ext cx="9509760" cy="36576"/>
          </a:xfrm>
          <a:prstGeom prst="rect">
            <a:avLst/>
          </a:prstGeom>
          <a:solidFill>
            <a:srgbClr val="DD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4023360"/>
            <a:ext cx="1046073" cy="5486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2033" y="40690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F21"/>
                </a:solidFill>
                <a:latin typeface="Helvetica Neue"/>
              </a:rPr>
              <a:t>5-day UAT  ·  30-day evaluation  ·  live in 2 months.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88A4"/>
                </a:solidFill>
                <a:latin typeface="Helvetica Neue"/>
              </a:rPr>
              <a:t>Pick a UAT start date this week, and Forge is on a public URL by Friday.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NEE FORGE  ·  Production Software for the Workshop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Menlo"/>
              </a:rPr>
              <a:t>THE NUMBERS THAT CLOSE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0" b="0">
                <a:solidFill>
                  <a:srgbClr val="F5F2EA"/>
                </a:solidFill>
                <a:latin typeface="Georg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718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EBE7DC"/>
                </a:solidFill>
                <a:latin typeface="Helvetica Neue"/>
              </a:rPr>
              <a:t>days to a public UAT URL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EBE7DC"/>
                </a:solidFill>
                <a:latin typeface="Helvetica Neue"/>
              </a:rPr>
              <a:t>with your supervisor + 2 techs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41732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0" b="0">
                <a:solidFill>
                  <a:srgbClr val="F5F2EA"/>
                </a:solidFill>
                <a:latin typeface="Georgia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9718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EBE7DC"/>
                </a:solidFill>
                <a:latin typeface="Helvetica Neue"/>
              </a:rPr>
              <a:t>seconds — median tech touchpoint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EBE7DC"/>
                </a:solidFill>
                <a:latin typeface="Helvetica Neue"/>
              </a:rPr>
              <a:t>(clock-in / out / complete / blocker)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1480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0" b="0">
                <a:solidFill>
                  <a:srgbClr val="F5F2EA"/>
                </a:solidFill>
                <a:latin typeface="Georgia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6692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EBE7DC"/>
                </a:solidFill>
                <a:latin typeface="Helvetica Neue"/>
              </a:rPr>
              <a:t>hours / month of supervisor's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EBE7DC"/>
                </a:solidFill>
                <a:latin typeface="Helvetica Neue"/>
              </a:rPr>
              <a:t>time saved versus reconciling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EBE7DC"/>
                </a:solidFill>
                <a:latin typeface="Helvetica Neue"/>
              </a:rPr>
              <a:t>three Excel sheets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0" b="0">
                <a:solidFill>
                  <a:srgbClr val="F5F2EA"/>
                </a:solidFill>
                <a:latin typeface="Georg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56692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EBE7DC"/>
                </a:solidFill>
                <a:latin typeface="Helvetica Neue"/>
              </a:rPr>
              <a:t>per-user licence fees.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EBE7DC"/>
                </a:solidFill>
                <a:latin typeface="Helvetica Neue"/>
              </a:rPr>
              <a:t>Predictable monthly hosting.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EBE7DC"/>
                </a:solidFill>
                <a:latin typeface="Helvetica Neue"/>
              </a:rPr>
              <a:t>Single line on the invoice.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DD7C8"/>
                </a:solidFill>
                <a:latin typeface="Menlo"/>
              </a:rPr>
              <a:t>Every number above is verifiable. Ask for the evidence appendix.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Menlo"/>
              </a:rPr>
              <a:t>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0A0E0F"/>
                </a:solidFill>
                <a:latin typeface="Georgia"/>
              </a:rPr>
              <a:t>Two outcomes — your call.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94960" cy="3931920"/>
          </a:xfrm>
          <a:prstGeom prst="rect">
            <a:avLst/>
          </a:prstGeom>
          <a:solidFill>
            <a:srgbClr val="E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88A4"/>
                </a:solidFill>
                <a:latin typeface="Menlo"/>
              </a:rPr>
              <a:t>DO NOTHING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F21"/>
                </a:solidFill>
                <a:latin typeface="Helvetica Neue"/>
              </a:rPr>
              <a:t>—  Spreadsheets remain the master 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F21"/>
                </a:solidFill>
                <a:latin typeface="Helvetica Neue"/>
              </a:rPr>
              <a:t>—  Variance reasons remain anecdotal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F21"/>
                </a:solidFill>
                <a:latin typeface="Helvetica Neue"/>
              </a:rPr>
              <a:t>—  Phone calls remain the supervisor's day-job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4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F21"/>
                </a:solidFill>
                <a:latin typeface="Helvetica Neue"/>
              </a:rPr>
              <a:t>—  Kinetic remains an 18-month maybe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F21"/>
                </a:solidFill>
                <a:latin typeface="Helvetica Neue"/>
              </a:rPr>
              <a:t>—  Cost is invisible but real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394960" cy="3931920"/>
          </a:xfrm>
          <a:prstGeom prst="rect">
            <a:avLst/>
          </a:prstGeom>
          <a:solidFill>
            <a:srgbClr val="0A0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5394960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96596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410C"/>
                </a:solidFill>
                <a:latin typeface="Menlo"/>
              </a:rPr>
              <a:t>ADOPT NEE FORGE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46888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BE7DC"/>
                </a:solidFill>
                <a:latin typeface="Helvetica Neue"/>
              </a:rPr>
              <a:t>→  UAT live in 5 days on a public 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9718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BE7DC"/>
                </a:solidFill>
                <a:latin typeface="Helvetica Neue"/>
              </a:rPr>
              <a:t>→  Every overrun has a reason code by month two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4747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BE7DC"/>
                </a:solidFill>
                <a:latin typeface="Helvetica Neue"/>
              </a:rPr>
              <a:t>→  Job Card location answered in 2 seconds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97764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BE7DC"/>
                </a:solidFill>
                <a:latin typeface="Helvetica Neue"/>
              </a:rPr>
              <a:t>→  Decision in 30 days — roll-out or walk 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805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BE7DC"/>
                </a:solidFill>
                <a:latin typeface="Helvetica Neue"/>
              </a:rPr>
              <a:t>→  Cost is line-item visible and capped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94360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5F2EA"/>
                </a:solidFill>
                <a:latin typeface="Georgia"/>
              </a:rPr>
              <a:t>Pick a UAT start date this week.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NEE FORGE  ·  Production Software for the Workshop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88A4"/>
                </a:solidFill>
                <a:latin typeface="Menlo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